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23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C9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16152"/>
            <a:ext cx="9144000" cy="39273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2"/>
          <p:cNvSpPr/>
          <p:nvPr/>
        </p:nvSpPr>
        <p:spPr>
          <a:xfrm>
            <a:off x="393192" y="1600200"/>
            <a:ext cx="8357616" cy="822960"/>
          </a:xfrm>
          <a:prstGeom prst="rect">
            <a:avLst/>
          </a:prstGeom>
          <a:noFill/>
          <a:ln/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 Analysis for Parkinson's Disease Detection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393192" y="2468880"/>
            <a:ext cx="8357616" cy="457200"/>
          </a:xfrm>
          <a:prstGeom prst="rect">
            <a:avLst/>
          </a:prstGeom>
          <a:noFill/>
          <a:ln/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Mamba and Selective State Space Models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393192" y="3017520"/>
            <a:ext cx="8357616" cy="914400"/>
          </a:xfrm>
          <a:prstGeom prst="rect">
            <a:avLst/>
          </a:prstGeom>
          <a:solidFill>
            <a:srgbClr val="041E42">
              <a:alpha val="7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393192" y="3017520"/>
            <a:ext cx="8357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Martinelli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alex.martinelli@fau.de  |  Matriculation: 23699064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M.Sc. — Pattern Recognition Lab, FAU Erlangen-Nürnberg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3192" y="118872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Parkinson's Disease (PD)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neurodegenerative disorder affecting motor control, balance, and gait.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Challenge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relies on UPDRS &amp; Hoehn-Yahr scales — subjective, clinician-dependent.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Gait Analysis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vGRF signals from force-sensitive insoles provide rich time-series data for automated, non-invasive PD detection.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apply Mamba (Selective SSM) to PD detection from vGRF signals, comparing against SVM, LSTM, and GRU baselines.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60720" y="1188720"/>
            <a:ext cx="3017520" cy="109728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760720" y="1234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5760720" y="173736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prior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(1D-LBP + MLP)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2368296"/>
            <a:ext cx="3017520" cy="109728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760720" y="241401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&gt;95%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5760720" y="2916936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compute cost)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60720" y="3547872"/>
            <a:ext cx="3017520" cy="109728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760720" y="35935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5760720" y="4096512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complexity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quadratic attention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PhysioNet Gait in Parkinson's Disease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3192" y="1188720"/>
            <a:ext cx="4073300" cy="2729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 subjects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PD patients + 73 healthy controls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 comfortable pace on level ground. Three studies: normal walk, dual-task, rhythmic auditory stimulation.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setup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Force-sensitive insoles — 8 sensors/foot, 100 Hz. 18 signals per subject (L1–L8, R1–R8 + 2 totals).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severity (HY scale)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(mild bilateral)  •  2.5 (moderate)  •  3 (postural instability)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1202392"/>
            <a:ext cx="3341077" cy="23805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38130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 — Sensor placement under foot insole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417384"/>
              </p:ext>
            </p:extLst>
          </p:nvPr>
        </p:nvGraphicFramePr>
        <p:xfrm>
          <a:off x="4262511" y="3550919"/>
          <a:ext cx="4881489" cy="1295400"/>
        </p:xfrm>
        <a:graphic>
          <a:graphicData uri="http://schemas.openxmlformats.org/drawingml/2006/table">
            <a:tbl>
              <a:tblPr/>
              <a:tblGrid>
                <a:gridCol w="1627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5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 (44%)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Mild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(33%)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(17%)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5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(6%)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vGRF Signal Characteristics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188720"/>
            <a:ext cx="8357616" cy="2926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" y="4133088"/>
            <a:ext cx="8357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 — Total VGRF: Healthy Control (blue) vs PD Patient (red) — Left &amp; Right foot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0624" y="4306824"/>
            <a:ext cx="8357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observations: 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 patients show reduced peak force amplitudes, increased stride-to-stride variability, and irregular temporal spacing — reflecting bradykinesia and impaired rhythm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Approach: Two Modeling Paradigms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3192" y="1188720"/>
            <a:ext cx="4114800" cy="359359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93192" y="1188720"/>
            <a:ext cx="4114800" cy="384048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93192" y="1188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Feature-Based ML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TSFRESH automated extraction: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Statistics, extrema, temporal descriptors from 16 sensors.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biomechanical features: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Stride-level descriptors (impulse CV, stance phase CV). 229 features total.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+ F-score + Cohen's d. Top 9 features → SVM (linear &amp; RBF).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analysis: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components for 95% variance → substantial redundancy.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36008" y="1188720"/>
            <a:ext cx="4114800" cy="359359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4636008" y="1188720"/>
            <a:ext cx="4114800" cy="384048"/>
          </a:xfrm>
          <a:prstGeom prst="rect">
            <a:avLst/>
          </a:prstGeom>
          <a:solidFill>
            <a:srgbClr val="2F586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4636008" y="1188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Sequence Modeling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73168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vGRF signals as direct input: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feature engineering.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evaluated: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 •  GRU  •  Mamba (Selective SSM)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of 2,000 timesteps. Per-channel z-score normalization. Subject-level 80/20 split (no leakage).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search: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search: batch size, hidden dim, layers, LR, dropout, d_state, d_conv.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Selection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5" y="1126047"/>
            <a:ext cx="4269545" cy="29489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" y="39227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 — PCA (PC1+PC2 = 29.8% variance)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1184381"/>
            <a:ext cx="4269545" cy="27747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3922776"/>
            <a:ext cx="4178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 — t-SNE of top 9 features (improved clustering)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93192" y="4197096"/>
            <a:ext cx="8357616" cy="36576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1"/>
          <p:cNvSpPr/>
          <p:nvPr/>
        </p:nvSpPr>
        <p:spPr>
          <a:xfrm>
            <a:off x="393192" y="4270248"/>
            <a:ext cx="83576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9 features (TSFRESH): 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L2_max, L2_abs_max, R2_max, R2_abs_max, R6_median, L6_median, R5_median, L8_median, L2_std — Ranking: Cohen's d (0.5) + F-score (0.5)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Mamba: Selective State Space Model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77" y="1170432"/>
            <a:ext cx="7981123" cy="23225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34930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5 — Mamba pipeline: Z-score norm → Linear embedding → Stacked Mamba blocks → Max pooling → FC classifier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93192" y="3785616"/>
            <a:ext cx="8357616" cy="32004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468623" y="3810410"/>
            <a:ext cx="2352299" cy="1031338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202575" y="3804959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Space Model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42077" y="3912929"/>
            <a:ext cx="2419995" cy="841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 summarizes sequence history with linear O(n) complexity.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29668" y="3816917"/>
            <a:ext cx="2137331" cy="1024831"/>
          </a:xfrm>
          <a:prstGeom prst="rect">
            <a:avLst/>
          </a:prstGeom>
          <a:solidFill>
            <a:srgbClr val="2F586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3264408" y="3791771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Mechanism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08420" y="3904488"/>
            <a:ext cx="232716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S4, Mamba makes state-update matrices input-dependent.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403176" y="3828435"/>
            <a:ext cx="2298747" cy="1008741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6254496" y="3741127"/>
            <a:ext cx="2761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Block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81928" y="3772252"/>
            <a:ext cx="2761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→ Conv → Selective SSM → Residual + LayerNorm. Stackable.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Block Architecture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88720"/>
            <a:ext cx="3108960" cy="34015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460857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6 — Mamba block with Selective SSM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31920" y="1188720"/>
            <a:ext cx="4818888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Mamba block works: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projection: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to higher-dim space, split into two branches.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Convolution: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convolution captures local temporal dependencies.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Selective SSM: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matrices (A,B,C) per-timestep — relevant info retained, noise discarded.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Output + residual: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combined, projected back, residual added, normalized.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vs LSTM/GRU: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sequential bottleneck. Linear complexity. Better long-range modeling.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 &amp; Hyperparameters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1188720"/>
          <a:ext cx="8357616" cy="35661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Mamba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8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[2,5,6,8,10,13,14,16,17,18]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dim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2.5e-4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(1.1/1.0)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patience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 sched. pat.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d_state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d_conv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Gait Cycle: PD vs Control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152144"/>
            <a:ext cx="8357616" cy="29992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" y="4206240"/>
            <a:ext cx="8357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7 — Mean normalized gait cycles per group. Signals segmented, resampled, and averaged per sensor.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4632" y="4345158"/>
            <a:ext cx="8357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gait cycle plots for each sensor (left and right foot) to visually compare PD dynamics vs healthy control pressure throughout the full stride.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Results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1188720"/>
            <a:ext cx="1965960" cy="896112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274320" y="123444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88.6%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74320" y="174650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68880" y="1188720"/>
            <a:ext cx="1965960" cy="896112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2468880" y="123444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0.897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2468880" y="174650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Precision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188720"/>
            <a:ext cx="1965960" cy="896112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663440" y="123444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0.885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4663440" y="174650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F1-Score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0" y="1188720"/>
            <a:ext cx="1965960" cy="896112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6858000" y="123444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+1.4%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6858000" y="174650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LSTM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2176272"/>
          <a:ext cx="8540496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E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41E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Mamba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RBF SVM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SVM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9F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393192" y="4096512"/>
            <a:ext cx="8357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outperforms all baselines in every metric. Deep learning models substantially outperform feature-based SVMs, confirming end-to-end temporal representation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152144"/>
            <a:ext cx="8357616" cy="3474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" y="4640580"/>
            <a:ext cx="8357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8 — Accuracy, F1 (Control), F1 (Parkinson), Recall (Control), Recall (Parkinson) across all models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Dynamics: Mamba vs LSTM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124712"/>
            <a:ext cx="8357616" cy="29077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" y="4114800"/>
            <a:ext cx="8357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9 — Mamba (left): smooth convergence. LSTM (right): unstable validation after epoch 30.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3192" y="4323354"/>
            <a:ext cx="8357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Mamba: 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monotonic decrease in both train/val loss. Small gap — no significant overfitting.  </a:t>
            </a:r>
            <a:r>
              <a:rPr lang="en-US" sz="11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LSTM: </a:t>
            </a: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 validation fluctuations after ~epoch 30, indicating overfitting on long biomedical sequences.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93192" y="548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3192" y="1188720"/>
            <a:ext cx="8357616" cy="84810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93192" y="1188720"/>
            <a:ext cx="64008" cy="84810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48640" y="12161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 advantages for biomedical time-series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508760"/>
            <a:ext cx="8046720" cy="482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SSM effectively captures long-range temporal dependencies. Linear complexity enables scaling without Transformer overhead.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3192" y="2082546"/>
            <a:ext cx="8357616" cy="84810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393192" y="2082546"/>
            <a:ext cx="64008" cy="848106"/>
          </a:xfrm>
          <a:prstGeom prst="rect">
            <a:avLst/>
          </a:prstGeom>
          <a:solidFill>
            <a:srgbClr val="2F586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48640" y="210997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vs. feature engineering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2402586"/>
            <a:ext cx="8046720" cy="482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 outperformed SVM-based pipelines, confirming learned temporal representations are more discriminative.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93192" y="2976372"/>
            <a:ext cx="8357616" cy="84810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393192" y="2976372"/>
            <a:ext cx="64008" cy="848106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548640" y="30038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9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Transformers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3296412"/>
            <a:ext cx="8046720" cy="482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achieve &gt;95% accuracy but require quadratic attention. Mamba provides 88.6% with far lower computational resources.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93192" y="3870198"/>
            <a:ext cx="8357616" cy="84810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1"/>
          <p:cNvSpPr/>
          <p:nvPr/>
        </p:nvSpPr>
        <p:spPr>
          <a:xfrm>
            <a:off x="393192" y="3870198"/>
            <a:ext cx="64008" cy="848106"/>
          </a:xfrm>
          <a:prstGeom prst="rect">
            <a:avLst/>
          </a:prstGeom>
          <a:solidFill>
            <a:srgbClr val="C7C7C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548640" y="389763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4190238"/>
            <a:ext cx="8046720" cy="482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 (166 subjects), class imbalance (70% PD). Chunk-based segmentation necessary. Single sensor modality may limit generalization.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C9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16152"/>
            <a:ext cx="9144000" cy="39273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" y="201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Friedrich-Alexander-Universität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41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1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6576"/>
            <a:ext cx="1828800" cy="51206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3192" y="1069848"/>
            <a:ext cx="8357616" cy="36576"/>
          </a:xfrm>
          <a:prstGeom prst="rect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2"/>
          <p:cNvSpPr/>
          <p:nvPr/>
        </p:nvSpPr>
        <p:spPr>
          <a:xfrm>
            <a:off x="393192" y="1371600"/>
            <a:ext cx="8357616" cy="594360"/>
          </a:xfrm>
          <a:prstGeom prst="rect">
            <a:avLst/>
          </a:prstGeom>
          <a:noFill/>
          <a:ln/>
          <a:effectLst>
            <a:outerShdw blurRad="101600" dist="25400" dir="81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393192" y="2075688"/>
            <a:ext cx="8357616" cy="2423160"/>
          </a:xfrm>
          <a:prstGeom prst="rect">
            <a:avLst/>
          </a:prstGeom>
          <a:solidFill>
            <a:srgbClr val="041E42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48640" y="2103120"/>
            <a:ext cx="8046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classification: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88.61% accuracy, 0.897 precision, 0.885 F1 — outperforming LSTM, GRU, RBF SVM, Linear SVM.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efficient training: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convergence and low overfitting vs recurrent architectures — critical for small biomedical datasets.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vs Transformers: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complexity enables scalable application to long physiological time-series.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</a:t>
            </a: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modalities  •  Larger clinical cohorts  •  PD severity regression  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846320"/>
            <a:ext cx="9144000" cy="22860"/>
          </a:xfrm>
          <a:prstGeom prst="rect">
            <a:avLst/>
          </a:prstGeom>
          <a:solidFill>
            <a:srgbClr val="8C9F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393192" y="4873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Fakultät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132320" y="4873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März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595360" y="48737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1365</Words>
  <Application>Microsoft Office PowerPoint</Application>
  <PresentationFormat>Presentazione su schermo (16:9)</PresentationFormat>
  <Paragraphs>317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Gait Analysis for Parkinson Detection — FAU</dc:title>
  <dc:subject>PptxGenJS Presentation</dc:subject>
  <dc:creator>Alex Martinelli</dc:creator>
  <cp:lastModifiedBy>Alex Martinelli</cp:lastModifiedBy>
  <cp:revision>2</cp:revision>
  <dcterms:created xsi:type="dcterms:W3CDTF">2026-03-09T18:52:28Z</dcterms:created>
  <dcterms:modified xsi:type="dcterms:W3CDTF">2026-03-09T20:02:33Z</dcterms:modified>
</cp:coreProperties>
</file>